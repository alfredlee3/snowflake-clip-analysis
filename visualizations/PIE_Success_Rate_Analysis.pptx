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Stmt 18</c:v>
                </c:pt>
              </c:strCache>
            </c:strRef>
          </c:tx>
          <c:spPr>
            <a:ln w="31750">
              <a:solidFill>
                <a:srgbClr val="E74C3C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89.4</c:v>
                </c:pt>
                <c:pt idx="1">
                  <c:v>91.4</c:v>
                </c:pt>
                <c:pt idx="2">
                  <c:v>92.5</c:v>
                </c:pt>
                <c:pt idx="3">
                  <c:v>93.2</c:v>
                </c:pt>
                <c:pt idx="4">
                  <c:v>93.8</c:v>
                </c:pt>
                <c:pt idx="5">
                  <c:v>94.4</c:v>
                </c:pt>
                <c:pt idx="6">
                  <c:v>94.7</c:v>
                </c:pt>
                <c:pt idx="7">
                  <c:v>94.9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Stmt 26</c:v>
                </c:pt>
              </c:strCache>
            </c:strRef>
          </c:tx>
          <c:spPr>
            <a:ln w="31750">
              <a:solidFill>
                <a:srgbClr val="3498DB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87.3</c:v>
                </c:pt>
                <c:pt idx="1">
                  <c:v>88.3</c:v>
                </c:pt>
                <c:pt idx="2">
                  <c:v>89.4</c:v>
                </c:pt>
                <c:pt idx="3">
                  <c:v>90.7</c:v>
                </c:pt>
                <c:pt idx="4">
                  <c:v>90.8</c:v>
                </c:pt>
                <c:pt idx="5">
                  <c:v>91.0</c:v>
                </c:pt>
                <c:pt idx="6">
                  <c:v>91.5</c:v>
                </c:pt>
                <c:pt idx="7">
                  <c:v>92.2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Stmt 34</c:v>
                </c:pt>
              </c:strCache>
            </c:strRef>
          </c:tx>
          <c:spPr>
            <a:ln w="31750">
              <a:solidFill>
                <a:srgbClr val="2ECC71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82.5</c:v>
                </c:pt>
                <c:pt idx="1">
                  <c:v>83.9</c:v>
                </c:pt>
                <c:pt idx="2">
                  <c:v>84.8</c:v>
                </c:pt>
                <c:pt idx="3">
                  <c:v>86.0</c:v>
                </c:pt>
                <c:pt idx="4">
                  <c:v>87.3</c:v>
                </c:pt>
                <c:pt idx="5">
                  <c:v>88.0</c:v>
                </c:pt>
                <c:pt idx="6">
                  <c:v>88.7</c:v>
                </c:pt>
                <c:pt idx="7">
                  <c:v>88.7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Stmt 42+</c:v>
                </c:pt>
              </c:strCache>
            </c:strRef>
          </c:tx>
          <c:spPr>
            <a:ln w="31750">
              <a:solidFill>
                <a:srgbClr val="F39C12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74.6</c:v>
                </c:pt>
                <c:pt idx="1">
                  <c:v>76.7</c:v>
                </c:pt>
                <c:pt idx="2">
                  <c:v>78.2</c:v>
                </c:pt>
                <c:pt idx="3">
                  <c:v>79.4</c:v>
                </c:pt>
                <c:pt idx="4">
                  <c:v>80.4</c:v>
                </c:pt>
                <c:pt idx="5">
                  <c:v>81.1</c:v>
                </c:pt>
                <c:pt idx="6">
                  <c:v>81.9</c:v>
                </c:pt>
                <c:pt idx="7">
                  <c:v>82.4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Overall Stmt 18+</c:v>
                </c:pt>
              </c:strCache>
            </c:strRef>
          </c:tx>
          <c:spPr>
            <a:ln w="31750">
              <a:solidFill>
                <a:srgbClr val="000000"/>
              </a:solidFill>
              <a:prstDash val="sysDash"/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</c:strCache>
            </c:strRef>
          </c:cat>
          <c:val>
            <c:numRef>
              <c:f>Sheet1!$F$2:$F$9</c:f>
              <c:numCache>
                <c:formatCode>General</c:formatCode>
                <c:ptCount val="8"/>
                <c:pt idx="0">
                  <c:v>78.3</c:v>
                </c:pt>
                <c:pt idx="1">
                  <c:v>80.5</c:v>
                </c:pt>
                <c:pt idx="2">
                  <c:v>82.0</c:v>
                </c:pt>
                <c:pt idx="3">
                  <c:v>83.2</c:v>
                </c:pt>
                <c:pt idx="4">
                  <c:v>84.2</c:v>
                </c:pt>
                <c:pt idx="5">
                  <c:v>84.8</c:v>
                </c:pt>
                <c:pt idx="6">
                  <c:v>85.5</c:v>
                </c:pt>
                <c:pt idx="7">
                  <c:v>86.1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Months After PIE Evaluation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7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Cumulative Success Rate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t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t>PIE Success Rate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April 2025 Cohort - 8 Month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69696"/>
                </a:solidFill>
              </a:defRPr>
            </a:pPr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Overall Success Rate Over Time - April 2025 Cohort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097280"/>
          <a:ext cx="786384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Key Findings - Month 8 (240 Days)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/>
            </a:pPr>
            <a:r>
              <a:t>Success Rates by Statement: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• Stmt 18:  94.9%  (Best Performance)</a:t>
            </a:r>
          </a:p>
          <a:p>
            <a:pPr>
              <a:spcBef>
                <a:spcPts val="600"/>
              </a:spcBef>
              <a:defRPr sz="1800"/>
            </a:pPr>
            <a:r>
              <a:t>• Stmt 26:  92.2%</a:t>
            </a:r>
          </a:p>
          <a:p>
            <a:pPr>
              <a:spcBef>
                <a:spcPts val="600"/>
              </a:spcBef>
              <a:defRPr sz="1800"/>
            </a:pPr>
            <a:r>
              <a:t>• Stmt 34:  88.7%</a:t>
            </a:r>
          </a:p>
          <a:p>
            <a:pPr>
              <a:spcBef>
                <a:spcPts val="600"/>
              </a:spcBef>
              <a:defRPr sz="1800"/>
            </a:pPr>
            <a:r>
              <a:t>• Stmt 42+: 82.4%  (Late-Stage Accounts)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• Overall Stmt 18+: 86.1%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Key Insights:</a:t>
            </a:r>
          </a:p>
          <a:p>
            <a:pPr>
              <a:spcBef>
                <a:spcPts val="600"/>
              </a:spcBef>
              <a:defRPr sz="1800"/>
            </a:pPr>
            <a:r>
              <a:t>✓ Success Rate = (Approved Outright + PIE with Income) / Total Population</a:t>
            </a:r>
          </a:p>
          <a:p>
            <a:pPr>
              <a:spcBef>
                <a:spcPts val="600"/>
              </a:spcBef>
              <a:defRPr sz="1800"/>
            </a:pPr>
            <a:r>
              <a:t>✓ PIE income collection patterns are stable and reliable</a:t>
            </a:r>
          </a:p>
          <a:p>
            <a:pPr>
              <a:spcBef>
                <a:spcPts val="600"/>
              </a:spcBef>
              <a:defRPr sz="1800"/>
            </a:pPr>
            <a:r>
              <a:t>✓ Earlier statements show stronger performance (higher approval rates)</a:t>
            </a:r>
          </a:p>
          <a:p>
            <a:pPr>
              <a:spcBef>
                <a:spcPts val="600"/>
              </a:spcBef>
              <a:defRPr sz="1800"/>
            </a:pPr>
            <a:r>
              <a:t>✓ 8-month window balances observation time with data recency</a:t>
            </a:r>
          </a:p>
          <a:p>
            <a:pPr>
              <a:spcBef>
                <a:spcPts val="600"/>
              </a:spcBef>
              <a:defRPr sz="18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